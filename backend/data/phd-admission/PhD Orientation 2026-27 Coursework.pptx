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2D2"/>
    <a:srgbClr val="A4F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0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864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774954"/>
            <a:ext cx="4419055" cy="29215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1" y="4299966"/>
            <a:ext cx="4419053" cy="59664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8364" y="595363"/>
            <a:ext cx="3945636" cy="454813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03940" y="155987"/>
            <a:ext cx="1997099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5197367" y="592168"/>
            <a:ext cx="0" cy="455133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1" y="4065188"/>
            <a:ext cx="51973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59393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71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459486"/>
            <a:ext cx="8440251" cy="829818"/>
          </a:xfrm>
        </p:spPr>
        <p:txBody>
          <a:bodyPr/>
          <a:lstStyle>
            <a:lvl1pPr>
              <a:defRPr sz="49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9" y="1604772"/>
            <a:ext cx="8440251" cy="3216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354172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8759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3917666"/>
            <a:ext cx="8572500" cy="685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4562318"/>
            <a:ext cx="8572499" cy="4251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380205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3801263"/>
            <a:ext cx="914171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675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569214"/>
            <a:ext cx="5692140" cy="306552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4053078"/>
            <a:ext cx="8636458" cy="43205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4690872"/>
            <a:ext cx="2222769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306" y="4690872"/>
            <a:ext cx="1259732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690872"/>
            <a:ext cx="409835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4543425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3956082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894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" y="1076706"/>
            <a:ext cx="8695944" cy="4169664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587867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6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665226"/>
            <a:ext cx="8553958" cy="877824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661" y="2124490"/>
            <a:ext cx="5170289" cy="2631713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1588869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600075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983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8" y="390906"/>
            <a:ext cx="4985766" cy="1399032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7990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1988820"/>
            <a:ext cx="4745736" cy="2660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3924" y="157734"/>
            <a:ext cx="2221992" cy="30861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80133" y="157734"/>
            <a:ext cx="1259732" cy="30861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3692937" y="1839337"/>
            <a:ext cx="545106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3692937" y="0"/>
            <a:ext cx="0" cy="51435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527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1558031"/>
            <a:ext cx="3359330" cy="201856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683" y="1657907"/>
            <a:ext cx="4401970" cy="182435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3683" y="155987"/>
            <a:ext cx="1440986" cy="31002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983954" y="1162975"/>
            <a:ext cx="0" cy="2817551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398163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162975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8521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937470"/>
            <a:ext cx="3064434" cy="384425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8788" y="937469"/>
            <a:ext cx="4830318" cy="39290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2890" y="155987"/>
            <a:ext cx="1440986" cy="31002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689060" y="604008"/>
            <a:ext cx="0" cy="453949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8940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157" y="562356"/>
            <a:ext cx="4831518" cy="152933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2746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8156" y="160112"/>
            <a:ext cx="2221992" cy="30861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6920" y="157734"/>
            <a:ext cx="1259732" cy="30861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8157" y="2208276"/>
            <a:ext cx="4831519" cy="26787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2746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9979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459486"/>
            <a:ext cx="5266944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157734"/>
            <a:ext cx="2648578" cy="3100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157734"/>
            <a:ext cx="1259732" cy="31002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309878"/>
            <a:ext cx="5266944" cy="3605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9419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459486"/>
            <a:ext cx="5261612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918713" y="155987"/>
            <a:ext cx="1261872" cy="31002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92196" y="155987"/>
            <a:ext cx="409835" cy="31002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309878"/>
            <a:ext cx="5263703" cy="3605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30195" y="0"/>
            <a:ext cx="3312911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5826625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3681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30" y="562356"/>
            <a:ext cx="4333670" cy="77495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57734"/>
            <a:ext cx="2221992" cy="30861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76872" y="157734"/>
            <a:ext cx="1259732" cy="30861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10570" y="157734"/>
            <a:ext cx="409835" cy="31002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495043"/>
            <a:ext cx="4333670" cy="3419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1562" y="0"/>
            <a:ext cx="42124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4927972" y="1"/>
            <a:ext cx="0" cy="51434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6980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562356"/>
            <a:ext cx="3092760" cy="11384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157734"/>
            <a:ext cx="1695043" cy="30861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71997" y="157734"/>
            <a:ext cx="793583" cy="30861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7648" y="157734"/>
            <a:ext cx="330727" cy="31002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78" y="1933957"/>
            <a:ext cx="3097955" cy="27843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84494" y="0"/>
            <a:ext cx="5459506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0972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6560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562356"/>
            <a:ext cx="8636066" cy="72009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635417"/>
            <a:ext cx="3759266" cy="32131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005" y="1375893"/>
            <a:ext cx="4784042" cy="3767607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4362341" y="1370440"/>
            <a:ext cx="0" cy="37804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370441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53065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3874773"/>
            <a:ext cx="2742398" cy="91756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8572" cy="362788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341" y="3874773"/>
            <a:ext cx="5305332" cy="917565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4828032"/>
            <a:ext cx="222199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4341" y="4827895"/>
            <a:ext cx="3412060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828032"/>
            <a:ext cx="409835" cy="31002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3212569" y="3627882"/>
            <a:ext cx="0" cy="1515618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938" y="3631580"/>
            <a:ext cx="9144938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240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571502"/>
            <a:ext cx="4959590" cy="116692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970" y="1826975"/>
            <a:ext cx="5462794" cy="3316524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51" y="571500"/>
            <a:ext cx="306961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1826975"/>
            <a:ext cx="545782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5457825" y="1"/>
            <a:ext cx="0" cy="51434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66289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336042"/>
            <a:ext cx="8636069" cy="84353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60112"/>
            <a:ext cx="2221992" cy="30861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157734"/>
            <a:ext cx="1259732" cy="30861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155987"/>
            <a:ext cx="409835" cy="30861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711" y="1275588"/>
            <a:ext cx="2488628" cy="386791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081" y="1597915"/>
            <a:ext cx="5978594" cy="33169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271639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2488628" y="1271638"/>
            <a:ext cx="0" cy="387186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15526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424" y="891540"/>
            <a:ext cx="3051810" cy="336042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1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42" y="1207008"/>
            <a:ext cx="5081778" cy="311353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25050" dirty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57734"/>
            <a:ext cx="2221992" cy="30861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157734"/>
            <a:ext cx="1259732" cy="30861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157734"/>
            <a:ext cx="409835" cy="30861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4552081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860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8330" y="685800"/>
            <a:ext cx="7534070" cy="3348416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1pPr>
            <a:lvl2pPr marL="17145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2pPr>
            <a:lvl3pPr marL="342900" indent="0">
              <a:lnSpc>
                <a:spcPct val="10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3pPr>
            <a:lvl4pPr marL="514350" indent="0">
              <a:lnSpc>
                <a:spcPct val="100000"/>
              </a:lnSpc>
              <a:buNone/>
              <a:defRPr sz="4950" b="0">
                <a:solidFill>
                  <a:schemeClr val="tx2"/>
                </a:solidFill>
                <a:latin typeface="+mj-lt"/>
              </a:defRPr>
            </a:lvl4pPr>
            <a:lvl5pPr marL="685800" indent="0">
              <a:lnSpc>
                <a:spcPct val="100000"/>
              </a:lnSpc>
              <a:buNone/>
              <a:defRPr sz="45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4697730"/>
            <a:ext cx="2222769" cy="31002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052" y="4697730"/>
            <a:ext cx="1440986" cy="31002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697730"/>
            <a:ext cx="409835" cy="31002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4543425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53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924" y="4080165"/>
            <a:ext cx="6974586" cy="761997"/>
          </a:xfrm>
        </p:spPr>
        <p:txBody>
          <a:bodyPr anchor="ctr">
            <a:normAutofit/>
          </a:bodyPr>
          <a:lstStyle>
            <a:lvl1pPr>
              <a:defRPr sz="15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0030" y="878113"/>
            <a:ext cx="7269480" cy="2904119"/>
          </a:xfrm>
        </p:spPr>
        <p:txBody>
          <a:bodyPr>
            <a:normAutofit/>
          </a:bodyPr>
          <a:lstStyle>
            <a:lvl1pPr marL="205740" indent="-205740">
              <a:lnSpc>
                <a:spcPct val="70000"/>
              </a:lnSpc>
              <a:buNone/>
              <a:defRPr sz="6600" cap="all" baseline="0">
                <a:solidFill>
                  <a:schemeClr val="tx2"/>
                </a:solidFill>
                <a:latin typeface="+mj-lt"/>
              </a:defRPr>
            </a:lvl1pPr>
            <a:lvl2pPr marL="205740" indent="-205740">
              <a:lnSpc>
                <a:spcPct val="70000"/>
              </a:lnSpc>
              <a:buNone/>
              <a:defRPr sz="6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05740" indent="-205740">
              <a:lnSpc>
                <a:spcPct val="70000"/>
              </a:lnSpc>
              <a:buNone/>
              <a:defRPr sz="54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57734"/>
            <a:ext cx="2221992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157734"/>
            <a:ext cx="1832841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157734"/>
            <a:ext cx="409835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590384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3955898"/>
            <a:ext cx="9144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229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514350"/>
            <a:ext cx="8440251" cy="4992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8330" y="1330393"/>
            <a:ext cx="4011930" cy="3339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8740" y="1330394"/>
            <a:ext cx="4011930" cy="3339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08212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5417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29" y="514350"/>
            <a:ext cx="8442198" cy="50063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330" y="1330393"/>
            <a:ext cx="4011798" cy="442608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8330" y="1776357"/>
            <a:ext cx="4011798" cy="2894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8597" y="1330393"/>
            <a:ext cx="4011930" cy="442608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68597" y="1776357"/>
            <a:ext cx="4011930" cy="2894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08212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59978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6756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4973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1588869"/>
            <a:ext cx="9144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24078"/>
            <a:ext cx="8440251" cy="918972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4697730"/>
            <a:ext cx="2221992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4697730"/>
            <a:ext cx="1450165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697730"/>
            <a:ext cx="409835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8" y="2571751"/>
            <a:ext cx="8440252" cy="2080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261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20" y="952793"/>
            <a:ext cx="5947485" cy="1545666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2" y="2846071"/>
            <a:ext cx="5949574" cy="114831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60112"/>
            <a:ext cx="2221992" cy="30861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157734"/>
            <a:ext cx="1259732" cy="30861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257618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050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7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592172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701848"/>
            <a:ext cx="8440251" cy="4992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419" y="1280686"/>
            <a:ext cx="8440251" cy="3636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8330" y="155987"/>
            <a:ext cx="2222769" cy="310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60052" y="155987"/>
            <a:ext cx="1440986" cy="310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653" y="155987"/>
            <a:ext cx="409835" cy="310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38" b="1" cap="all" baseline="0">
                <a:solidFill>
                  <a:schemeClr val="tx2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7625" y="4981575"/>
            <a:ext cx="1483519" cy="11541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5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7901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</p:sldLayoutIdLst>
  <p:hf sldNum="0" hdr="0" ftr="0" dt="0"/>
  <p:txStyles>
    <p:titleStyle>
      <a:lvl1pPr algn="l" defTabSz="685800" rtl="0" eaLnBrk="1" latinLnBrk="0" hangingPunct="1">
        <a:lnSpc>
          <a:spcPct val="70000"/>
        </a:lnSpc>
        <a:spcBef>
          <a:spcPct val="0"/>
        </a:spcBef>
        <a:buNone/>
        <a:defRPr sz="3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Ph.D. ORIENTATION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Ph.D. Coursework 2026–27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 and credit requirements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C.S.J.M. University, Kanpur  |  Orientation Day, 06 October 2026</a:t>
            </a:r>
            <a:endParaRPr lang="en-US" sz="1400" dirty="0"/>
          </a:p>
        </p:txBody>
      </p:sp>
      <p:pic>
        <p:nvPicPr>
          <p:cNvPr id="2" name="Picture 1" descr="Emblem | Chhatrapati Shahu Ji Maharaj University, Kanpur">
            <a:extLst>
              <a:ext uri="{FF2B5EF4-FFF2-40B4-BE49-F238E27FC236}">
                <a16:creationId xmlns:a16="http://schemas.microsoft.com/office/drawing/2014/main" id="{95F35BD8-ADD7-D424-0559-5D3153C08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865"/>
            <a:ext cx="640080" cy="640080"/>
          </a:xfrm>
          <a:prstGeom prst="rect">
            <a:avLst/>
          </a:prstGeom>
        </p:spPr>
      </p:pic>
      <p:pic>
        <p:nvPicPr>
          <p:cNvPr id="3" name="Picture 2" descr="National Assessment And Accreditation Council | PSGR Krishnammal College">
            <a:extLst>
              <a:ext uri="{FF2B5EF4-FFF2-40B4-BE49-F238E27FC236}">
                <a16:creationId xmlns:a16="http://schemas.microsoft.com/office/drawing/2014/main" id="{18E489C1-48F0-55DF-6D8D-76839238D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679" y="-31864"/>
            <a:ext cx="1458337" cy="6948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credits, five components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99616" cy="2560320"/>
          </a:xfrm>
          <a:prstGeom prst="roundRect">
            <a:avLst>
              <a:gd name="adj" fmla="val 7317"/>
            </a:avLst>
          </a:prstGeom>
          <a:solidFill>
            <a:srgbClr val="D5EBE9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9696" y="1371600"/>
            <a:ext cx="1499616" cy="2560320"/>
          </a:xfrm>
          <a:prstGeom prst="roundRect">
            <a:avLst>
              <a:gd name="adj" fmla="val 7317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139696" y="150876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23774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274320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Course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231136" y="33832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paper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22192" y="1371600"/>
            <a:ext cx="1499616" cy="2560320"/>
          </a:xfrm>
          <a:prstGeom prst="roundRect">
            <a:avLst>
              <a:gd name="adj" fmla="val 7317"/>
            </a:avLst>
          </a:prstGeom>
          <a:solidFill>
            <a:srgbClr val="D5EBE9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822192" y="150876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23774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274320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Publication Ethics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913632" y="33832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04688" y="1371600"/>
            <a:ext cx="1499616" cy="2560320"/>
          </a:xfrm>
          <a:prstGeom prst="roundRect">
            <a:avLst>
              <a:gd name="adj" fmla="val 7317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504688" y="150876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5504688" y="23774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274320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UGC-MOOC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596128" y="33832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87184" y="1371600"/>
            <a:ext cx="1499616" cy="2560320"/>
          </a:xfrm>
          <a:prstGeom prst="roundRect">
            <a:avLst>
              <a:gd name="adj" fmla="val 7317"/>
            </a:avLst>
          </a:prstGeom>
          <a:solidFill>
            <a:srgbClr val="D5EBE9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187184" y="150876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25" name="Text 23"/>
          <p:cNvSpPr txBox="1"/>
          <p:nvPr/>
        </p:nvSpPr>
        <p:spPr>
          <a:xfrm>
            <a:off x="7187184" y="23774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78624" y="274320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Activity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278624" y="33832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Seminars &amp; assignments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completion of coursework is a mandatory prerequisite for conferral of the Ph.D. degree.</a:t>
            </a:r>
            <a:endParaRPr lang="en-US" sz="1600" dirty="0"/>
          </a:p>
        </p:txBody>
      </p:sp>
      <p:pic>
        <p:nvPicPr>
          <p:cNvPr id="30" name="Picture 29" descr="Emblem | Chhatrapati Shahu Ji Maharaj University, Kanpur">
            <a:extLst>
              <a:ext uri="{FF2B5EF4-FFF2-40B4-BE49-F238E27FC236}">
                <a16:creationId xmlns:a16="http://schemas.microsoft.com/office/drawing/2014/main" id="{9509FA07-A181-E32E-06A7-BB4EF6C50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865"/>
            <a:ext cx="640080" cy="640080"/>
          </a:xfrm>
          <a:prstGeom prst="rect">
            <a:avLst/>
          </a:prstGeom>
        </p:spPr>
      </p:pic>
      <p:pic>
        <p:nvPicPr>
          <p:cNvPr id="32" name="Picture 31" descr="National Assessment And Accreditation Council | PSGR Krishnammal College">
            <a:extLst>
              <a:ext uri="{FF2B5EF4-FFF2-40B4-BE49-F238E27FC236}">
                <a16:creationId xmlns:a16="http://schemas.microsoft.com/office/drawing/2014/main" id="{D9F84E89-011F-C943-202A-5EEC3C5CA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679" y="-31864"/>
            <a:ext cx="1458337" cy="6948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2377440" cy="4206240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630936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796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 classes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 .5 h / session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847011" y="4846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Methodology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383280" y="141732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Compulsory for all Ph.D. scholars.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42316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383280" y="242316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design, data collection, statistical tools, hypothesis testing and report writing.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4290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83280" y="342900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 quantitative, qualitative and mixed-methods approaches to your own research.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54D6B2-AB9F-74FA-A64C-65BF77159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90" y="3010989"/>
            <a:ext cx="1677767" cy="1819001"/>
          </a:xfrm>
          <a:prstGeom prst="rect">
            <a:avLst/>
          </a:prstGeom>
        </p:spPr>
      </p:pic>
      <p:pic>
        <p:nvPicPr>
          <p:cNvPr id="16" name="Picture 15" descr="Emblem | Chhatrapati Shahu Ji Maharaj University, Kanpur">
            <a:extLst>
              <a:ext uri="{FF2B5EF4-FFF2-40B4-BE49-F238E27FC236}">
                <a16:creationId xmlns:a16="http://schemas.microsoft.com/office/drawing/2014/main" id="{82286C9C-C08C-75E8-2AD5-6B1432872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1865"/>
            <a:ext cx="640080" cy="640080"/>
          </a:xfrm>
          <a:prstGeom prst="rect">
            <a:avLst/>
          </a:prstGeom>
        </p:spPr>
      </p:pic>
      <p:pic>
        <p:nvPicPr>
          <p:cNvPr id="18" name="Picture 17" descr="National Assessment And Accreditation Council | PSGR Krishnammal College">
            <a:extLst>
              <a:ext uri="{FF2B5EF4-FFF2-40B4-BE49-F238E27FC236}">
                <a16:creationId xmlns:a16="http://schemas.microsoft.com/office/drawing/2014/main" id="{86767AED-390D-907A-B12B-A8002BD6C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679" y="-31864"/>
            <a:ext cx="1458337" cy="694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4855" y="685800"/>
            <a:ext cx="2377440" cy="4206240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98517"/>
            <a:ext cx="2377440" cy="1187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394855" y="1800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7735" y="23134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 classes</a:t>
            </a:r>
          </a:p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1.5 h/ session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Course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383280" y="141732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specialised paper, from the two offered by the department or school.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42316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383280" y="242316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theoretical and methodological aspects of your research area.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4290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83280" y="342900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Syllabus, textbooks and research articles are given by the department at the start of coursework.</a:t>
            </a:r>
            <a:endParaRPr lang="en-US" sz="1100" dirty="0"/>
          </a:p>
        </p:txBody>
      </p:sp>
      <p:pic>
        <p:nvPicPr>
          <p:cNvPr id="13" name="Picture 12" descr="School Course Books at ₹ 250/piece | Educational Books in Raigad | ID:  8937191855">
            <a:extLst>
              <a:ext uri="{FF2B5EF4-FFF2-40B4-BE49-F238E27FC236}">
                <a16:creationId xmlns:a16="http://schemas.microsoft.com/office/drawing/2014/main" id="{39FD677D-FC49-13B1-CE1A-68E874B76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953512"/>
            <a:ext cx="2258291" cy="1863052"/>
          </a:xfrm>
          <a:prstGeom prst="rect">
            <a:avLst/>
          </a:prstGeom>
        </p:spPr>
      </p:pic>
      <p:pic>
        <p:nvPicPr>
          <p:cNvPr id="15" name="Picture 14" descr="Emblem | Chhatrapati Shahu Ji Maharaj University, Kanpur">
            <a:extLst>
              <a:ext uri="{FF2B5EF4-FFF2-40B4-BE49-F238E27FC236}">
                <a16:creationId xmlns:a16="http://schemas.microsoft.com/office/drawing/2014/main" id="{8F247EBA-3A5F-1A42-368B-0034EA437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1865"/>
            <a:ext cx="640080" cy="640080"/>
          </a:xfrm>
          <a:prstGeom prst="rect">
            <a:avLst/>
          </a:prstGeom>
        </p:spPr>
      </p:pic>
      <p:pic>
        <p:nvPicPr>
          <p:cNvPr id="17" name="Picture 16" descr="National Assessment And Accreditation Council | PSGR Krishnammal College">
            <a:extLst>
              <a:ext uri="{FF2B5EF4-FFF2-40B4-BE49-F238E27FC236}">
                <a16:creationId xmlns:a16="http://schemas.microsoft.com/office/drawing/2014/main" id="{BACF32D1-1FBB-D0C9-8F65-5870D1559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679" y="-31864"/>
            <a:ext cx="1458337" cy="694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437" y="685800"/>
            <a:ext cx="2377440" cy="4206240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94854" y="61929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430877" y="196803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22317" y="24242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16 classes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1.5 h/ session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75708" y="406908"/>
            <a:ext cx="62206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Publication Ethics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383280" y="141732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Compulsory for all Ph.D. scholars.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42316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383280" y="242316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Plagiarism, data fabrication, authorship issues and responsible conduct of research.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4290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83280" y="342900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Discussions, case study analysis and assignments; active participation is crucial.</a:t>
            </a:r>
            <a:endParaRPr lang="en-US" sz="1100" dirty="0"/>
          </a:p>
        </p:txBody>
      </p:sp>
      <p:pic>
        <p:nvPicPr>
          <p:cNvPr id="13" name="Picture 12" descr="Free Course: Research and Publication Ethics (RPE) from Netaji Subhas Open  University, Kolkata | Class Central">
            <a:extLst>
              <a:ext uri="{FF2B5EF4-FFF2-40B4-BE49-F238E27FC236}">
                <a16:creationId xmlns:a16="http://schemas.microsoft.com/office/drawing/2014/main" id="{AEC0B038-751D-B48D-570D-98F24E0FA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07" y="2881745"/>
            <a:ext cx="2295699" cy="1934389"/>
          </a:xfrm>
          <a:prstGeom prst="rect">
            <a:avLst/>
          </a:prstGeom>
        </p:spPr>
      </p:pic>
      <p:pic>
        <p:nvPicPr>
          <p:cNvPr id="15" name="Picture 14" descr="Emblem | Chhatrapati Shahu Ji Maharaj University, Kanpur">
            <a:extLst>
              <a:ext uri="{FF2B5EF4-FFF2-40B4-BE49-F238E27FC236}">
                <a16:creationId xmlns:a16="http://schemas.microsoft.com/office/drawing/2014/main" id="{B9606969-A263-63E7-1537-B3FB08E71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1865"/>
            <a:ext cx="640080" cy="640080"/>
          </a:xfrm>
          <a:prstGeom prst="rect">
            <a:avLst/>
          </a:prstGeom>
        </p:spPr>
      </p:pic>
      <p:pic>
        <p:nvPicPr>
          <p:cNvPr id="17" name="Picture 16" descr="National Assessment And Accreditation Council | PSGR Krishnammal College">
            <a:extLst>
              <a:ext uri="{FF2B5EF4-FFF2-40B4-BE49-F238E27FC236}">
                <a16:creationId xmlns:a16="http://schemas.microsoft.com/office/drawing/2014/main" id="{F44F7867-7F09-CBCB-2266-7B8115FF1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679" y="-31864"/>
            <a:ext cx="1458337" cy="6948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377440" cy="4206240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810490"/>
            <a:ext cx="2209800" cy="1411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27499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92480" y="283699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 weeks</a:t>
            </a:r>
          </a:p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UGC-recognized online course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4846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UGC-MOOC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383280" y="1417320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UGC-recognised course (SWAYAM, NPTEL or other recognised platform) relevant to your research area.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221992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383280" y="222199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register and complete it in the stipulated time; submit proof of enrolment and progress to the R&amp;D Cell.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026664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83280" y="302666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TRANSFER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completion certificate to the R&amp;D Cell, which processes the credit.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831336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383280" y="3831336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grading is used for the final grade; the certificate is verified.</a:t>
            </a:r>
            <a:endParaRPr lang="en-US" sz="1100" dirty="0"/>
          </a:p>
        </p:txBody>
      </p:sp>
      <p:pic>
        <p:nvPicPr>
          <p:cNvPr id="15" name="Picture 14" descr="Mooc Massive Open Online Course Acronym Stock Vector (Royalty Free)  2027750360 | Shutterstock">
            <a:extLst>
              <a:ext uri="{FF2B5EF4-FFF2-40B4-BE49-F238E27FC236}">
                <a16:creationId xmlns:a16="http://schemas.microsoft.com/office/drawing/2014/main" id="{95C9998E-F29C-6CAD-AC71-D75A57F66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95234"/>
            <a:ext cx="2285999" cy="1225594"/>
          </a:xfrm>
          <a:prstGeom prst="rect">
            <a:avLst/>
          </a:prstGeom>
        </p:spPr>
      </p:pic>
      <p:pic>
        <p:nvPicPr>
          <p:cNvPr id="17" name="Picture 16" descr="Emblem | Chhatrapati Shahu Ji Maharaj University, Kanpur">
            <a:extLst>
              <a:ext uri="{FF2B5EF4-FFF2-40B4-BE49-F238E27FC236}">
                <a16:creationId xmlns:a16="http://schemas.microsoft.com/office/drawing/2014/main" id="{185C9561-2F1A-81C6-76C1-0AA473B3B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1865"/>
            <a:ext cx="640080" cy="640080"/>
          </a:xfrm>
          <a:prstGeom prst="rect">
            <a:avLst/>
          </a:prstGeom>
        </p:spPr>
      </p:pic>
      <p:pic>
        <p:nvPicPr>
          <p:cNvPr id="19" name="Picture 18" descr="National Assessment And Accreditation Council | PSGR Krishnammal College">
            <a:extLst>
              <a:ext uri="{FF2B5EF4-FFF2-40B4-BE49-F238E27FC236}">
                <a16:creationId xmlns:a16="http://schemas.microsoft.com/office/drawing/2014/main" id="{A4E82C69-04DD-5F7C-54A8-DA61439BB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679" y="-31864"/>
            <a:ext cx="1458337" cy="6948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0466" y="728749"/>
            <a:ext cx="2377440" cy="4206240"/>
          </a:xfrm>
          <a:prstGeom prst="roundRect">
            <a:avLst>
              <a:gd name="adj" fmla="val 5769"/>
            </a:avLst>
          </a:prstGeom>
          <a:noFill/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32509" y="55695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332509" y="180420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43346" y="241328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8 Lectures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1.5 h /session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89019" y="-100259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Activity With AI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14254" y="1172371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397134" y="1172371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presentations, assignments, field work and other academic activities.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4254" y="2178211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397134" y="2178211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your research progress.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4254" y="3184051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97134" y="3184051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scientific writing, presentation and argumentation skills.</a:t>
            </a:r>
            <a:endParaRPr lang="en-US" sz="1100" dirty="0"/>
          </a:p>
        </p:txBody>
      </p:sp>
      <p:pic>
        <p:nvPicPr>
          <p:cNvPr id="14" name="Picture 13" descr="What is Artificial Intelligence (AI)?">
            <a:extLst>
              <a:ext uri="{FF2B5EF4-FFF2-40B4-BE49-F238E27FC236}">
                <a16:creationId xmlns:a16="http://schemas.microsoft.com/office/drawing/2014/main" id="{AC52023C-FBBD-05B2-D174-C237E42EB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94" y="3560618"/>
            <a:ext cx="2211921" cy="1158437"/>
          </a:xfrm>
          <a:prstGeom prst="rect">
            <a:avLst/>
          </a:prstGeom>
        </p:spPr>
      </p:pic>
      <p:pic>
        <p:nvPicPr>
          <p:cNvPr id="16" name="Picture 15" descr="Emblem | Chhatrapati Shahu Ji Maharaj University, Kanpur">
            <a:extLst>
              <a:ext uri="{FF2B5EF4-FFF2-40B4-BE49-F238E27FC236}">
                <a16:creationId xmlns:a16="http://schemas.microsoft.com/office/drawing/2014/main" id="{B854DF05-382B-5B39-DF14-299601375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1865"/>
            <a:ext cx="640080" cy="640080"/>
          </a:xfrm>
          <a:prstGeom prst="rect">
            <a:avLst/>
          </a:prstGeom>
        </p:spPr>
      </p:pic>
      <p:pic>
        <p:nvPicPr>
          <p:cNvPr id="18" name="Picture 17" descr="National Assessment And Accreditation Council | PSGR Krishnammal College">
            <a:extLst>
              <a:ext uri="{FF2B5EF4-FFF2-40B4-BE49-F238E27FC236}">
                <a16:creationId xmlns:a16="http://schemas.microsoft.com/office/drawing/2014/main" id="{94647103-3BD9-7739-9E5E-15CC12B2D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679" y="-31864"/>
            <a:ext cx="1458337" cy="6948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6854" y="612370"/>
            <a:ext cx="8229600" cy="48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of Ph.D. Coursework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2301240" y="114299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course paper is assessed out of 100 marks: 30 internal + 70 external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2423160"/>
          </a:xfrm>
          <a:prstGeom prst="roundRect">
            <a:avLst>
              <a:gd name="adj" fmla="val 4528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Assessment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Examination (written)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809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Practicum (assignment / presentation / field work)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980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4023360" cy="2423160"/>
          </a:xfrm>
          <a:prstGeom prst="roundRect">
            <a:avLst>
              <a:gd name="adj" fmla="val 4528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892040" y="1554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External Assessment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examination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6060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Conducted for 70 marks in each course paper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Format: MCQ / Descriptive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9436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mandatory. ≥75% earns 5 marks;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below 75% earns zero.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114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80060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CGPA: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on a 10-point scale is required for the final result.</a:t>
            </a:r>
            <a:endParaRPr lang="en-US" sz="1200" dirty="0"/>
          </a:p>
        </p:txBody>
      </p:sp>
      <p:pic>
        <p:nvPicPr>
          <p:cNvPr id="22" name="Picture 21" descr="Emblem | Chhatrapati Shahu Ji Maharaj University, Kanpur">
            <a:extLst>
              <a:ext uri="{FF2B5EF4-FFF2-40B4-BE49-F238E27FC236}">
                <a16:creationId xmlns:a16="http://schemas.microsoft.com/office/drawing/2014/main" id="{A6C9EC6B-5719-7693-F48B-278A0B00E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865"/>
            <a:ext cx="640080" cy="640080"/>
          </a:xfrm>
          <a:prstGeom prst="rect">
            <a:avLst/>
          </a:prstGeom>
        </p:spPr>
      </p:pic>
      <p:pic>
        <p:nvPicPr>
          <p:cNvPr id="24" name="Picture 23" descr="National Assessment And Accreditation Council | PSGR Krishnammal College">
            <a:extLst>
              <a:ext uri="{FF2B5EF4-FFF2-40B4-BE49-F238E27FC236}">
                <a16:creationId xmlns:a16="http://schemas.microsoft.com/office/drawing/2014/main" id="{7D4DEB23-17B0-DD73-FA2C-512880ED2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679" y="-31864"/>
            <a:ext cx="1458337" cy="6948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111</TotalTime>
  <Words>478</Words>
  <Application>Microsoft Office PowerPoint</Application>
  <PresentationFormat>On-screen Show (16:9)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Cambria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shashisarthak@gmail.com</cp:lastModifiedBy>
  <cp:revision>10</cp:revision>
  <dcterms:created xsi:type="dcterms:W3CDTF">2026-09-28T10:53:01Z</dcterms:created>
  <dcterms:modified xsi:type="dcterms:W3CDTF">2026-09-29T11:20:14Z</dcterms:modified>
</cp:coreProperties>
</file>